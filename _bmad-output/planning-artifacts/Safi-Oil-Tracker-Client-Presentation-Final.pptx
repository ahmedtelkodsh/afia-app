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I/Self/Safi-Image-Analysis/_bmad-output/planning-artifacts/pptx-workspace/slides/bot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0" y="352574"/>
            <a:ext cx="762000" cy="152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34369" y="2067074"/>
            <a:ext cx="4564615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Safi Oil Tracker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2701826" y="2806750"/>
            <a:ext cx="381500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0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Cooking Oil Tracking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064050" y="3355925"/>
            <a:ext cx="1015901" cy="38100"/>
          </a:xfrm>
          <a:prstGeom prst="rect">
            <a:avLst/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766739" y="3851077"/>
            <a:ext cx="36105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SCAN. SNAP. KNOW.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001393" y="4498777"/>
            <a:ext cx="11640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C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27,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457200"/>
            <a:ext cx="816117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942975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28587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5223" y="1395413"/>
            <a:ext cx="576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9802" y="1285875"/>
            <a:ext cx="37715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practical way</a:t>
            </a:r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track cooking oil consumption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901" y="1870025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4118" y="1979563"/>
            <a:ext cx="1211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9802" y="1870025"/>
            <a:ext cx="22804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estimation is </a:t>
            </a:r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901" y="245417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5635" y="2563713"/>
            <a:ext cx="1382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9802" y="2454176"/>
            <a:ext cx="3565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measuring is </a:t>
            </a:r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disruptive</a:t>
            </a:r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cooking flow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4901" y="3038326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06946" y="3147864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9802" y="3038326"/>
            <a:ext cx="42953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product</a:t>
            </a:r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bridges physical cooking and dietary tracking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901" y="3622477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6946" y="3732014"/>
            <a:ext cx="115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69802" y="3622477"/>
            <a:ext cx="41357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Health-conscious users want awareness </a:t>
            </a:r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effort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4901" y="4206627"/>
            <a:ext cx="8001149" cy="453926"/>
          </a:xfrm>
          <a:prstGeom prst="roundRect">
            <a:avLst>
              <a:gd name="adj" fmla="val 22383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8802" y="4333577"/>
            <a:ext cx="76432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"Consumers have no way to know how much oil they've really used from a bottle."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457200"/>
            <a:ext cx="839419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942975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3197" y="1209675"/>
            <a:ext cx="1650802" cy="485477"/>
          </a:xfrm>
          <a:prstGeom prst="roundRect">
            <a:avLst>
              <a:gd name="adj" fmla="val 20928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26178" y="1311176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6178" y="1479352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bottle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514749" y="1280964"/>
            <a:ext cx="2591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19549" y="1209675"/>
            <a:ext cx="1650802" cy="485477"/>
          </a:xfrm>
          <a:prstGeom prst="roundRect">
            <a:avLst>
              <a:gd name="adj" fmla="val 20928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932530" y="1311176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Camera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32530" y="1479352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21101" y="1280964"/>
            <a:ext cx="2591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25901" y="1209675"/>
            <a:ext cx="1650802" cy="485477"/>
          </a:xfrm>
          <a:prstGeom prst="roundRect">
            <a:avLst>
              <a:gd name="adj" fmla="val 20928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38882" y="1311176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8882" y="1479352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seconds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27453" y="1280964"/>
            <a:ext cx="2591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32253" y="1209675"/>
            <a:ext cx="1650802" cy="485477"/>
          </a:xfrm>
          <a:prstGeom prst="roundRect">
            <a:avLst>
              <a:gd name="adj" fmla="val 20928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45234" y="1311176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Results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5234" y="1479352"/>
            <a:ext cx="14248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ml, tbsp, cups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33400" y="1898303"/>
            <a:ext cx="1981200" cy="774650"/>
          </a:xfrm>
          <a:prstGeom prst="roundRect">
            <a:avLst>
              <a:gd name="adj" fmla="val 13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7213" y="1898303"/>
            <a:ext cx="0" cy="774650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425" y="2050703"/>
            <a:ext cx="16613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3425" y="2253853"/>
            <a:ext cx="1661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download, no account, no onboarding. QR code to results.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16101" y="1898303"/>
            <a:ext cx="1981349" cy="774650"/>
          </a:xfrm>
          <a:prstGeom prst="roundRect">
            <a:avLst>
              <a:gd name="adj" fmla="val 13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639913" y="1898303"/>
            <a:ext cx="0" cy="774650"/>
          </a:xfrm>
          <a:prstGeom prst="line">
            <a:avLst/>
          </a:prstGeom>
          <a:noFill/>
          <a:ln w="47625">
            <a:solidFill>
              <a:srgbClr val="40916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16126" y="2050703"/>
            <a:ext cx="1661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Math Hybrid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16126" y="2253853"/>
            <a:ext cx="16615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estimates fill %. Math calculates precise volume.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98950" y="1898303"/>
            <a:ext cx="1981200" cy="774650"/>
          </a:xfrm>
          <a:prstGeom prst="roundRect">
            <a:avLst>
              <a:gd name="adj" fmla="val 13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22763" y="1898303"/>
            <a:ext cx="0" cy="774650"/>
          </a:xfrm>
          <a:prstGeom prst="line">
            <a:avLst/>
          </a:prstGeom>
          <a:noFill/>
          <a:ln w="47625">
            <a:solidFill>
              <a:srgbClr val="E9A8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8975" y="2050703"/>
            <a:ext cx="16613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8975" y="2253853"/>
            <a:ext cx="16613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trains the AI. Gets smarter with use.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81651" y="1898303"/>
            <a:ext cx="1981349" cy="774650"/>
          </a:xfrm>
          <a:prstGeom prst="roundRect">
            <a:avLst>
              <a:gd name="adj" fmla="val 13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905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805464" y="1898303"/>
            <a:ext cx="0" cy="774650"/>
          </a:xfrm>
          <a:prstGeom prst="line">
            <a:avLst/>
          </a:prstGeom>
          <a:noFill/>
          <a:ln w="47625">
            <a:solidFill>
              <a:srgbClr val="1A3C3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81676" y="2050703"/>
            <a:ext cx="1661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/ Month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81676" y="2253853"/>
            <a:ext cx="16615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free tier infrastructure. Zero cost.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79350"/>
            <a:ext cx="842015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3400" y="641300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1750" y="831800"/>
            <a:ext cx="7518350" cy="3200400"/>
          </a:xfrm>
          <a:prstGeom prst="roundRect">
            <a:avLst>
              <a:gd name="adj" fmla="val 7937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7950" y="908000"/>
            <a:ext cx="7365950" cy="3048000"/>
          </a:xfrm>
          <a:prstGeom prst="roundRect">
            <a:avLst>
              <a:gd name="adj" fmla="val 5833"/>
            </a:avLst>
          </a:prstGeom>
          <a:solidFill>
            <a:srgbClr val="F5F8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817019" y="908000"/>
            <a:ext cx="0" cy="304800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950" y="908000"/>
            <a:ext cx="1834307" cy="425053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06178" y="971401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69679" y="1012627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63137" y="1174403"/>
            <a:ext cx="16639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Code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564928" y="2133451"/>
            <a:ext cx="660202" cy="660202"/>
          </a:xfrm>
          <a:prstGeom prst="roundRect">
            <a:avLst>
              <a:gd name="adj" fmla="val 7695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15678" y="2184202"/>
            <a:ext cx="169366" cy="169366"/>
          </a:xfrm>
          <a:prstGeom prst="roundRect">
            <a:avLst>
              <a:gd name="adj" fmla="val 7499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10345" y="2184202"/>
            <a:ext cx="169366" cy="169366"/>
          </a:xfrm>
          <a:prstGeom prst="roundRect">
            <a:avLst>
              <a:gd name="adj" fmla="val 7499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05013" y="2184202"/>
            <a:ext cx="169366" cy="169366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15678" y="2378869"/>
            <a:ext cx="169366" cy="169366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10345" y="2378869"/>
            <a:ext cx="169366" cy="169366"/>
          </a:xfrm>
          <a:prstGeom prst="roundRect">
            <a:avLst>
              <a:gd name="adj" fmla="val 7499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005013" y="2378869"/>
            <a:ext cx="169366" cy="169366"/>
          </a:xfrm>
          <a:prstGeom prst="roundRect">
            <a:avLst>
              <a:gd name="adj" fmla="val 7499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15678" y="2573536"/>
            <a:ext cx="169366" cy="169366"/>
          </a:xfrm>
          <a:prstGeom prst="roundRect">
            <a:avLst>
              <a:gd name="adj" fmla="val 7499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810345" y="2573536"/>
            <a:ext cx="169366" cy="169366"/>
          </a:xfrm>
          <a:prstGeom prst="roundRect">
            <a:avLst>
              <a:gd name="adj" fmla="val 74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05013" y="2573536"/>
            <a:ext cx="169366" cy="169366"/>
          </a:xfrm>
          <a:prstGeom prst="roundRect">
            <a:avLst>
              <a:gd name="adj" fmla="val 7499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40602" y="2844403"/>
            <a:ext cx="5090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on bottle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79275" y="2964954"/>
            <a:ext cx="6315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PWA with</a:t>
            </a:r>
            <a:endParaRPr lang="en-US" sz="6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 pre-loaded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2818507" y="2370088"/>
            <a:ext cx="133350" cy="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18507" y="2493913"/>
            <a:ext cx="133350" cy="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5182" y="2308175"/>
            <a:ext cx="0" cy="247650"/>
          </a:xfrm>
          <a:prstGeom prst="line">
            <a:avLst/>
          </a:prstGeom>
          <a:noFill/>
          <a:ln w="133350">
            <a:solidFill>
              <a:srgbClr val="2D6A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0999" y="908000"/>
            <a:ext cx="0" cy="304800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21781" y="908000"/>
            <a:ext cx="1834455" cy="425053"/>
          </a:xfrm>
          <a:prstGeom prst="rect">
            <a:avLst/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650159" y="971401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13659" y="1012627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906967" y="1174403"/>
            <a:ext cx="16640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Photo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38959" y="2127052"/>
            <a:ext cx="800100" cy="673001"/>
          </a:xfrm>
          <a:prstGeom prst="roundRect">
            <a:avLst>
              <a:gd name="adj" fmla="val 7548"/>
            </a:avLst>
          </a:prstGeom>
          <a:solidFill>
            <a:srgbClr val="333333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3383310" y="2180927"/>
            <a:ext cx="120551" cy="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92835" y="2171402"/>
            <a:ext cx="0" cy="120551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74157" y="2180927"/>
            <a:ext cx="120551" cy="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85183" y="2171402"/>
            <a:ext cx="0" cy="120551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310" y="2746177"/>
            <a:ext cx="120551" cy="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92835" y="2635151"/>
            <a:ext cx="0" cy="120551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85183" y="2635151"/>
            <a:ext cx="0" cy="120551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974157" y="2746177"/>
            <a:ext cx="120551" cy="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9013" y="2415927"/>
            <a:ext cx="42839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 here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13845" y="2850803"/>
            <a:ext cx="6501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guide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493389" y="2971354"/>
            <a:ext cx="491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camera</a:t>
            </a:r>
            <a:endParaRPr lang="en-US" sz="6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tap capture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4662488" y="2370088"/>
            <a:ext cx="133350" cy="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2488" y="2493913"/>
            <a:ext cx="133350" cy="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29163" y="2308175"/>
            <a:ext cx="0" cy="247650"/>
          </a:xfrm>
          <a:prstGeom prst="line">
            <a:avLst/>
          </a:prstGeom>
          <a:noFill/>
          <a:ln w="133350">
            <a:solidFill>
              <a:srgbClr val="40916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04831" y="908000"/>
            <a:ext cx="0" cy="304800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5762" y="908000"/>
            <a:ext cx="1834307" cy="425053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493990" y="971401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557491" y="1012627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750949" y="1174403"/>
            <a:ext cx="16639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284440" y="2165152"/>
            <a:ext cx="596801" cy="596801"/>
          </a:xfrm>
          <a:prstGeom prst="roundRect">
            <a:avLst>
              <a:gd name="adj" fmla="val 153217"/>
            </a:avLst>
          </a:prstGeom>
          <a:solidFill>
            <a:srgbClr val="E9A820">
              <a:alpha val="15000"/>
            </a:srgbClr>
          </a:solidFill>
          <a:ln w="19050">
            <a:solidFill>
              <a:srgbClr val="E9A8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519291" y="239211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10805" y="2812703"/>
            <a:ext cx="5442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seconds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264810" y="2933254"/>
            <a:ext cx="636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65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fill level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6506319" y="2370088"/>
            <a:ext cx="133350" cy="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506319" y="2493913"/>
            <a:ext cx="133350" cy="0"/>
          </a:xfrm>
          <a:prstGeom prst="line">
            <a:avLst/>
          </a:prstGeom>
          <a:noFill/>
          <a:ln w="12382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72994" y="2308175"/>
            <a:ext cx="0" cy="247650"/>
          </a:xfrm>
          <a:prstGeom prst="line">
            <a:avLst/>
          </a:prstGeom>
          <a:noFill/>
          <a:ln w="133350">
            <a:solidFill>
              <a:srgbClr val="E9A8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09593" y="908000"/>
            <a:ext cx="1834307" cy="425053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337822" y="971401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401322" y="1012627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594781" y="1174403"/>
            <a:ext cx="16639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7026622" y="2149376"/>
            <a:ext cx="292001" cy="673001"/>
          </a:xfrm>
          <a:prstGeom prst="roundRect">
            <a:avLst>
              <a:gd name="adj" fmla="val 13048"/>
            </a:avLst>
          </a:prstGeom>
          <a:noFill/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045672" y="2371725"/>
            <a:ext cx="253901" cy="431602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420124" y="2349252"/>
            <a:ext cx="4148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420124" y="2587377"/>
            <a:ext cx="4148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level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6940290" y="2923877"/>
            <a:ext cx="97276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340ml · 23 tbsp remaining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7050195" y="3044428"/>
            <a:ext cx="7531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65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1,325 cal consumed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533400" y="4159151"/>
            <a:ext cx="8255050" cy="444401"/>
          </a:xfrm>
          <a:prstGeom prst="roundRect">
            <a:avLst>
              <a:gd name="adj" fmla="val 22862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2509838" y="4248001"/>
            <a:ext cx="19048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8 Seconds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4631234" y="4309914"/>
            <a:ext cx="22242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bottle scan to full nutrition results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79350"/>
            <a:ext cx="84461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3400" y="641300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806351"/>
            <a:ext cx="5804148" cy="431750"/>
          </a:xfrm>
          <a:prstGeom prst="roundRect">
            <a:avLst>
              <a:gd name="adj" fmla="val 17649"/>
            </a:avLst>
          </a:prstGeom>
          <a:solidFill>
            <a:srgbClr val="EB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895201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796" y="961876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90451" y="882551"/>
            <a:ext cx="532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Device — React 19 PWA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90451" y="1028551"/>
            <a:ext cx="532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opens app · Camera captures 800px JPEG (~70KB) · Local volume/nutrition logic (no server round-trips)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3400" y="1301502"/>
            <a:ext cx="5804148" cy="431750"/>
          </a:xfrm>
          <a:prstGeom prst="roundRect">
            <a:avLst>
              <a:gd name="adj" fmla="val 17649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139035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796" y="1457027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90451" y="1377702"/>
            <a:ext cx="532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557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 — Edge Proxy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0451" y="1523702"/>
            <a:ext cx="532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validation · Rate limit 10 req/min/IP · Payload guard &lt;4MB · Routes to AI providers · Stores data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3400" y="1796653"/>
            <a:ext cx="5804148" cy="565100"/>
          </a:xfrm>
          <a:prstGeom prst="roundRect">
            <a:avLst>
              <a:gd name="adj" fmla="val 13484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0350" y="188550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9796" y="1952179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90451" y="1872853"/>
            <a:ext cx="5324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Providers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90451" y="2018854"/>
            <a:ext cx="5324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Gemini 2.5 Flash · JSON mode · 500 req/day free ·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Groq + Llama 4 Scout (online only, POC) → Fine-tuned model (post-POC)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3400" y="2425154"/>
            <a:ext cx="5804148" cy="603200"/>
          </a:xfrm>
          <a:prstGeom prst="roundRect">
            <a:avLst>
              <a:gd name="adj" fmla="val 12633"/>
            </a:avLst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52450" y="2425154"/>
            <a:ext cx="0" cy="603200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450" y="251400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9FA8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7896" y="258068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28551" y="2501354"/>
            <a:ext cx="5285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835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 — Object Storage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8551" y="2647355"/>
            <a:ext cx="52856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images/{scanId}.jpg + metadata/{scanId}.json · 10 GB free · ~140K scans · $0 egress · Training data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28551" y="2806154"/>
            <a:ext cx="2563862" cy="139601"/>
          </a:xfrm>
          <a:prstGeom prst="roundRect">
            <a:avLst>
              <a:gd name="adj" fmla="val 27292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91952" y="2818805"/>
            <a:ext cx="248580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Requires credit card activation — deferred to post-POC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464498" y="806351"/>
            <a:ext cx="2349401" cy="929729"/>
          </a:xfrm>
          <a:prstGeom prst="roundRect">
            <a:avLst>
              <a:gd name="adj" fmla="val 9562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91449" y="907852"/>
            <a:ext cx="21374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91449" y="1085552"/>
            <a:ext cx="213741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/analyze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91449" y="1215628"/>
            <a:ext cx="21374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validate → AI call → store → respond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591449" y="1374279"/>
            <a:ext cx="21374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/feedback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91449" y="1539329"/>
            <a:ext cx="21374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sanity check → update metadata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464498" y="1837581"/>
            <a:ext cx="2349401" cy="1136005"/>
          </a:xfrm>
          <a:prstGeom prst="roundRect">
            <a:avLst>
              <a:gd name="adj" fmla="val 7826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483548" y="1837581"/>
            <a:ext cx="0" cy="1136005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549" y="1939082"/>
            <a:ext cx="209854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Architecture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29549" y="2104132"/>
            <a:ext cx="2098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API keys never in browser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629549" y="2262783"/>
            <a:ext cx="2098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cold starts (V8 isolates)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29549" y="2421434"/>
            <a:ext cx="2098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DB server to manage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629549" y="2580084"/>
            <a:ext cx="2098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Edge CDN globally fast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629549" y="2738735"/>
            <a:ext cx="2098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R2 native binding (no HTTP)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64498" y="4769048"/>
            <a:ext cx="2349401" cy="196751"/>
          </a:xfrm>
          <a:prstGeom prst="roundRect">
            <a:avLst>
              <a:gd name="adj" fmla="val 32274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570494" y="4819799"/>
            <a:ext cx="21374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· No infra to manage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79350"/>
            <a:ext cx="842015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3400" y="641300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806351"/>
            <a:ext cx="4051250" cy="4159448"/>
          </a:xfrm>
          <a:prstGeom prst="roundRect">
            <a:avLst>
              <a:gd name="adj" fmla="val 2508"/>
            </a:avLst>
          </a:prstGeom>
          <a:solidFill>
            <a:srgbClr val="EBF5ED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825401"/>
            <a:ext cx="4013150" cy="33010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43930" y="914251"/>
            <a:ext cx="5067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9400" y="1257002"/>
            <a:ext cx="3759250" cy="422077"/>
          </a:xfrm>
          <a:prstGeom prst="roundRect">
            <a:avLst>
              <a:gd name="adj" fmla="val 15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80901" y="1415653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618952" y="1320403"/>
            <a:ext cx="16481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Vite 7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18952" y="1466404"/>
            <a:ext cx="16481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via vite-plugin-pwa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79400" y="1755279"/>
            <a:ext cx="3759250" cy="422077"/>
          </a:xfrm>
          <a:prstGeom prst="roundRect">
            <a:avLst>
              <a:gd name="adj" fmla="val 15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80901" y="1913930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618952" y="1818680"/>
            <a:ext cx="15459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 (Hono.js)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18952" y="1964680"/>
            <a:ext cx="15459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proxy, zero cold starts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79400" y="2253555"/>
            <a:ext cx="3759250" cy="422077"/>
          </a:xfrm>
          <a:prstGeom prst="roundRect">
            <a:avLst>
              <a:gd name="adj" fmla="val 15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0901" y="2412206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PRIMARY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618952" y="2316956"/>
            <a:ext cx="16308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18952" y="2462957"/>
            <a:ext cx="16308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500 req/day · JSON vision mode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79400" y="2751832"/>
            <a:ext cx="3759250" cy="422077"/>
          </a:xfrm>
          <a:prstGeom prst="roundRect">
            <a:avLst>
              <a:gd name="adj" fmla="val 15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0901" y="2910483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FALLBACK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618952" y="2815233"/>
            <a:ext cx="1560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+ Llama 4 Scout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18952" y="2961233"/>
            <a:ext cx="15605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only · Auto-failover · Free tier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79400" y="3250109"/>
            <a:ext cx="3759250" cy="422077"/>
          </a:xfrm>
          <a:prstGeom prst="roundRect">
            <a:avLst>
              <a:gd name="adj" fmla="val 15045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88925" y="3250109"/>
            <a:ext cx="0" cy="422077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9951" y="3408759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638002" y="3313509"/>
            <a:ext cx="15877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JSON / R2 TBD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38002" y="3459510"/>
            <a:ext cx="15877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required for R2 activation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79400" y="3748385"/>
            <a:ext cx="3759250" cy="422077"/>
          </a:xfrm>
          <a:prstGeom prst="roundRect">
            <a:avLst>
              <a:gd name="adj" fmla="val 15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80901" y="3907036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18952" y="3811786"/>
            <a:ext cx="11288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18952" y="3957786"/>
            <a:ext cx="11288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Auto-deploy · 34 unit tests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37050" y="806351"/>
            <a:ext cx="4051399" cy="4159448"/>
          </a:xfrm>
          <a:prstGeom prst="roundRect">
            <a:avLst>
              <a:gd name="adj" fmla="val 2508"/>
            </a:avLst>
          </a:prstGeom>
          <a:solidFill>
            <a:srgbClr val="F3F7FF"/>
          </a:solidFill>
          <a:ln w="19050">
            <a:solidFill>
              <a:srgbClr val="6B8CB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56100" y="825401"/>
            <a:ext cx="4013299" cy="330101"/>
          </a:xfrm>
          <a:prstGeom prst="rect">
            <a:avLst/>
          </a:prstGeom>
          <a:solidFill>
            <a:srgbClr val="3A5A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72286" y="914251"/>
            <a:ext cx="799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Launch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83051" y="1257002"/>
            <a:ext cx="3759398" cy="422077"/>
          </a:xfrm>
          <a:prstGeom prst="roundRect">
            <a:avLst>
              <a:gd name="adj" fmla="val 15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84552" y="1415653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822603" y="1320403"/>
            <a:ext cx="17199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Vite 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22603" y="1466404"/>
            <a:ext cx="17199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· + React Native option (Phase 4)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83051" y="1755279"/>
            <a:ext cx="3759398" cy="422077"/>
          </a:xfrm>
          <a:prstGeom prst="roundRect">
            <a:avLst>
              <a:gd name="adj" fmla="val 15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84552" y="1913930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822603" y="1818680"/>
            <a:ext cx="16335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 (Hono.js)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22603" y="1964680"/>
            <a:ext cx="16335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· + auth middleware, admin API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83051" y="2253555"/>
            <a:ext cx="3759398" cy="422077"/>
          </a:xfrm>
          <a:prstGeom prst="roundRect">
            <a:avLst>
              <a:gd name="adj" fmla="val 1504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84552" y="2412206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PRIMARY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822603" y="2316956"/>
            <a:ext cx="14901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(paid tier)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22603" y="2462957"/>
            <a:ext cx="14901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$0.15/M tokens · scales infinitely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83051" y="2751832"/>
            <a:ext cx="3759398" cy="422077"/>
          </a:xfrm>
          <a:prstGeom prst="roundRect">
            <a:avLst>
              <a:gd name="adj" fmla="val 15045"/>
            </a:avLst>
          </a:prstGeom>
          <a:solidFill>
            <a:srgbClr val="EE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892576" y="2751832"/>
            <a:ext cx="0" cy="422077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03602" y="2910483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FALLBACK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841653" y="2815233"/>
            <a:ext cx="20045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Qwen2.5-VL 7B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41653" y="2961233"/>
            <a:ext cx="20045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500+ scans · offline capable · self-hosted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83051" y="3250109"/>
            <a:ext cx="3759398" cy="422077"/>
          </a:xfrm>
          <a:prstGeom prst="roundRect">
            <a:avLst>
              <a:gd name="adj" fmla="val 15045"/>
            </a:avLst>
          </a:prstGeom>
          <a:solidFill>
            <a:srgbClr val="EE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892576" y="3250109"/>
            <a:ext cx="0" cy="422077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03602" y="3408759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841653" y="3313509"/>
            <a:ext cx="16689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 (activated)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41653" y="3459510"/>
            <a:ext cx="16689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10GB free + $0.015/GB · 140K+ scans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883051" y="3748385"/>
            <a:ext cx="3759398" cy="422077"/>
          </a:xfrm>
          <a:prstGeom prst="roundRect">
            <a:avLst>
              <a:gd name="adj" fmla="val 15045"/>
            </a:avLst>
          </a:prstGeom>
          <a:solidFill>
            <a:srgbClr val="EE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4892576" y="3748385"/>
            <a:ext cx="0" cy="422077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03602" y="3907036"/>
            <a:ext cx="751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/ DB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841653" y="3811786"/>
            <a:ext cx="16739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D1 + KV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841653" y="3957786"/>
            <a:ext cx="16739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 · scan history (Phase 2)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79350"/>
            <a:ext cx="842015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vs Native App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3400" y="641300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806351"/>
            <a:ext cx="4064050" cy="3746897"/>
          </a:xfrm>
          <a:prstGeom prst="roundRect">
            <a:avLst>
              <a:gd name="adj" fmla="val 2712"/>
            </a:avLst>
          </a:prstGeom>
          <a:solidFill>
            <a:srgbClr val="EBF5ED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825401"/>
            <a:ext cx="4025950" cy="710803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926902"/>
            <a:ext cx="37955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CHOICE 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850" y="1104602"/>
            <a:ext cx="3795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(PWA)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850" y="1329928"/>
            <a:ext cx="37955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for: POC v1 + Full Launch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79400" y="1637705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5600" y="1694706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1588" y="1707356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9501" y="1688455"/>
            <a:ext cx="2327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App Store submission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9501" y="1815405"/>
            <a:ext cx="232762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→ instant access in browser · No install required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79400" y="2024807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5600" y="2081808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1588" y="2094458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9501" y="2075557"/>
            <a:ext cx="234887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codebase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iOS + Android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09501" y="2202507"/>
            <a:ext cx="2348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· Deployed as static files on Cloudflare Pages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79400" y="2411909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5600" y="2468910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1588" y="2481560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9501" y="2462659"/>
            <a:ext cx="2282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API available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browser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9501" y="2589609"/>
            <a:ext cx="22829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getUserMedia() · Works on Chrome Android + Safari iOS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79400" y="2799011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5600" y="2856012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01588" y="2868662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9501" y="2849761"/>
            <a:ext cx="23327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shell</a:t>
            </a:r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Service Worker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09501" y="2976711"/>
            <a:ext cx="2332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loads instantly from cache · Only scan needs network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79400" y="3186113"/>
            <a:ext cx="3772049" cy="418951"/>
          </a:xfrm>
          <a:prstGeom prst="roundRect">
            <a:avLst>
              <a:gd name="adj" fmla="val 12126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55600" y="3243114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FFE0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8526" y="3265289"/>
            <a:ext cx="32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9501" y="3236863"/>
            <a:ext cx="34330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caveat:</a:t>
            </a:r>
            <a:pPr algn="l" indent="0" marL="0">
              <a:buNone/>
            </a:pPr>
            <a:r>
              <a:rPr lang="en-US" sz="85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Safari browser mode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09501" y="3363813"/>
            <a:ext cx="343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PWA mode has a known iOS camera bug → "Open in Safari" prompt shown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24400" y="806351"/>
            <a:ext cx="4064050" cy="3746897"/>
          </a:xfrm>
          <a:prstGeom prst="roundRect">
            <a:avLst>
              <a:gd name="adj" fmla="val 2712"/>
            </a:avLst>
          </a:prstGeom>
          <a:solidFill>
            <a:srgbClr val="F8F9FA"/>
          </a:solidFill>
          <a:ln w="19050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3450" y="825401"/>
            <a:ext cx="4025950" cy="691753"/>
          </a:xfrm>
          <a:prstGeom prst="rect">
            <a:avLst/>
          </a:prstGeom>
          <a:solidFill>
            <a:srgbClr val="6C75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95850" y="926902"/>
            <a:ext cx="37955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OPTION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5850" y="1085552"/>
            <a:ext cx="3795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Mobile App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95850" y="1310878"/>
            <a:ext cx="37955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or Flutter · After 1000+ scans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70400" y="1618655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46600" y="1675656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88719" y="1688306"/>
            <a:ext cx="953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6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200501" y="1669405"/>
            <a:ext cx="23403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review required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00501" y="1796355"/>
            <a:ext cx="23403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+ Google review process · Days to weeks to publish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870400" y="2005757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46600" y="2062758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88719" y="2075408"/>
            <a:ext cx="953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6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00501" y="2056507"/>
            <a:ext cx="2040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iOS + Android codebases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00501" y="2183457"/>
            <a:ext cx="20402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React Native (adds complexity vs current stack)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870400" y="2392859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946600" y="2449860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992588" y="2462510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00501" y="2443609"/>
            <a:ext cx="20217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camera + hardware access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200501" y="2570559"/>
            <a:ext cx="20217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iOS PWA limitation · Better UX for power users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870400" y="2779961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946600" y="2836962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992588" y="2849612"/>
            <a:ext cx="87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200501" y="2830711"/>
            <a:ext cx="2242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200501" y="2957661"/>
            <a:ext cx="22421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to track oil · Engagement features (Phase 4)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870400" y="3167063"/>
            <a:ext cx="3772049" cy="323701"/>
          </a:xfrm>
          <a:prstGeom prst="roundRect">
            <a:avLst>
              <a:gd name="adj" fmla="val 156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946600" y="3224064"/>
            <a:ext cx="177701" cy="177701"/>
          </a:xfrm>
          <a:prstGeom prst="roundRect">
            <a:avLst>
              <a:gd name="adj" fmla="val 50028"/>
            </a:avLst>
          </a:prstGeom>
          <a:solidFill>
            <a:srgbClr val="FF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988719" y="3236714"/>
            <a:ext cx="953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640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200501" y="3217813"/>
            <a:ext cx="1788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dev cost + time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200501" y="3344763"/>
            <a:ext cx="178856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justified until product-market fit is proven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33400" y="4654748"/>
            <a:ext cx="8255050" cy="311051"/>
          </a:xfrm>
          <a:prstGeom prst="roundRect">
            <a:avLst>
              <a:gd name="adj" fmla="val 24498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58063" y="4743599"/>
            <a:ext cx="80057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Decision: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PWA for POC + Full Launch. Native app considered only after 1,000+ real scans validate product-market fit.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28600"/>
            <a:ext cx="84978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Design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33400" y="549176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88777"/>
            <a:ext cx="5486400" cy="4302323"/>
          </a:xfrm>
          <a:prstGeom prst="roundRect">
            <a:avLst>
              <a:gd name="adj" fmla="val 6494"/>
            </a:avLst>
          </a:prstGeom>
          <a:solidFill>
            <a:srgbClr val="1A3C34"/>
          </a:solidFill>
          <a:ln/>
          <a:effectLst>
            <a:outerShdw sx="100000" sy="100000" kx="0" ky="0" algn="bl" rotWithShape="0" blurRad="254000" dist="50800" dir="5400000">
              <a:srgbClr val="000000">
                <a:alpha val="2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22550" y="790277"/>
            <a:ext cx="507950" cy="101501"/>
          </a:xfrm>
          <a:prstGeom prst="roundRect">
            <a:avLst>
              <a:gd name="adj" fmla="val 100098"/>
            </a:avLst>
          </a:prstGeom>
          <a:solidFill>
            <a:srgbClr val="0D1F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955179"/>
            <a:ext cx="1295400" cy="3429000"/>
          </a:xfrm>
          <a:prstGeom prst="roundRect">
            <a:avLst>
              <a:gd name="adj" fmla="val 9804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964704"/>
            <a:ext cx="1276350" cy="336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70384" y="1040904"/>
            <a:ext cx="1771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SAFI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085153" y="1139279"/>
            <a:ext cx="3442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Tracker</a:t>
            </a:r>
            <a:endParaRPr lang="en-US" sz="550" dirty="0"/>
          </a:p>
        </p:txBody>
      </p:sp>
      <p:sp>
        <p:nvSpPr>
          <p:cNvPr id="11" name="Text 9"/>
          <p:cNvSpPr/>
          <p:nvPr/>
        </p:nvSpPr>
        <p:spPr>
          <a:xfrm>
            <a:off x="619125" y="1301204"/>
            <a:ext cx="1276350" cy="29115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41350" y="2245816"/>
            <a:ext cx="431750" cy="431750"/>
          </a:xfrm>
          <a:prstGeom prst="roundRect">
            <a:avLst>
              <a:gd name="adj" fmla="val 8825"/>
            </a:avLst>
          </a:prstGeom>
          <a:solidFill>
            <a:srgbClr val="1A3C3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00144" y="2728317"/>
            <a:ext cx="5141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Filippo Berio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500ml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982837" y="2956917"/>
            <a:ext cx="5489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Virgin Olive</a:t>
            </a:r>
            <a:endParaRPr lang="en-US" sz="550" dirty="0"/>
          </a:p>
        </p:txBody>
      </p:sp>
      <p:sp>
        <p:nvSpPr>
          <p:cNvPr id="15" name="Text 13"/>
          <p:cNvSpPr/>
          <p:nvPr/>
        </p:nvSpPr>
        <p:spPr>
          <a:xfrm>
            <a:off x="880318" y="3080742"/>
            <a:ext cx="753814" cy="187226"/>
          </a:xfrm>
          <a:prstGeom prst="roundRect">
            <a:avLst>
              <a:gd name="adj" fmla="val 33916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07269" y="3131493"/>
            <a:ext cx="5099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Scanning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19125" y="4212729"/>
            <a:ext cx="1276350" cy="161925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5224" y="4250829"/>
            <a:ext cx="12241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Landing</a:t>
            </a:r>
            <a:endParaRPr lang="en-US" sz="550" dirty="0"/>
          </a:p>
        </p:txBody>
      </p:sp>
      <p:sp>
        <p:nvSpPr>
          <p:cNvPr id="19" name="Text 17"/>
          <p:cNvSpPr/>
          <p:nvPr/>
        </p:nvSpPr>
        <p:spPr>
          <a:xfrm>
            <a:off x="1955750" y="955179"/>
            <a:ext cx="1295549" cy="3429000"/>
          </a:xfrm>
          <a:prstGeom prst="roundRect">
            <a:avLst>
              <a:gd name="adj" fmla="val 9803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65275" y="964704"/>
            <a:ext cx="1276499" cy="238125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385761" y="1040904"/>
            <a:ext cx="43552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at bottle</a:t>
            </a:r>
            <a:endParaRPr lang="en-US" sz="550" dirty="0"/>
          </a:p>
        </p:txBody>
      </p:sp>
      <p:sp>
        <p:nvSpPr>
          <p:cNvPr id="22" name="Text 20"/>
          <p:cNvSpPr/>
          <p:nvPr/>
        </p:nvSpPr>
        <p:spPr>
          <a:xfrm>
            <a:off x="1965275" y="1202829"/>
            <a:ext cx="1276499" cy="2803624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066776" y="1313855"/>
            <a:ext cx="171450" cy="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76301" y="1304330"/>
            <a:ext cx="0" cy="17145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68823" y="1313855"/>
            <a:ext cx="171450" cy="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30748" y="1304330"/>
            <a:ext cx="0" cy="17145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66776" y="3743027"/>
            <a:ext cx="171450" cy="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76301" y="3581102"/>
            <a:ext cx="0" cy="17145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30748" y="3581102"/>
            <a:ext cx="0" cy="17145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68823" y="3743027"/>
            <a:ext cx="171450" cy="0"/>
          </a:xfrm>
          <a:prstGeom prst="line">
            <a:avLst/>
          </a:prstGeom>
          <a:noFill/>
          <a:ln w="19050">
            <a:solidFill>
              <a:srgbClr val="E9A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44800" y="2141041"/>
            <a:ext cx="317450" cy="927050"/>
          </a:xfrm>
          <a:prstGeom prst="roundRect">
            <a:avLst>
              <a:gd name="adj" fmla="val 12002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463850" y="2471291"/>
            <a:ext cx="279350" cy="577751"/>
          </a:xfrm>
          <a:prstGeom prst="rect">
            <a:avLst/>
          </a:prstGeom>
          <a:solidFill>
            <a:srgbClr val="E9A82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965275" y="4006453"/>
            <a:ext cx="1276499" cy="206276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004276" y="4057204"/>
            <a:ext cx="11984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⊙ Capture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965275" y="4212729"/>
            <a:ext cx="1276499" cy="161925"/>
          </a:xfrm>
          <a:prstGeom prst="rect">
            <a:avLst/>
          </a:prstGeom>
          <a:solidFill>
            <a:srgbClr val="3333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991372" y="4250829"/>
            <a:ext cx="12243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View</a:t>
            </a:r>
            <a:endParaRPr lang="en-US" sz="550" dirty="0"/>
          </a:p>
        </p:txBody>
      </p:sp>
      <p:sp>
        <p:nvSpPr>
          <p:cNvPr id="37" name="Text 35"/>
          <p:cNvSpPr/>
          <p:nvPr/>
        </p:nvSpPr>
        <p:spPr>
          <a:xfrm>
            <a:off x="3302050" y="955179"/>
            <a:ext cx="1295400" cy="3429000"/>
          </a:xfrm>
          <a:prstGeom prst="roundRect">
            <a:avLst>
              <a:gd name="adj" fmla="val 9804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11575" y="964704"/>
            <a:ext cx="1276350" cy="187226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376535" y="1015454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Analyzing...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3311575" y="1151930"/>
            <a:ext cx="1276350" cy="306079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765649" y="1872704"/>
            <a:ext cx="368201" cy="927050"/>
          </a:xfrm>
          <a:prstGeom prst="roundRect">
            <a:avLst>
              <a:gd name="adj" fmla="val 13797"/>
            </a:avLst>
          </a:prstGeom>
          <a:noFill/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784699" y="2202954"/>
            <a:ext cx="330101" cy="577751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784699" y="2177653"/>
            <a:ext cx="330101" cy="25301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752850" y="2875955"/>
            <a:ext cx="393650" cy="393650"/>
          </a:xfrm>
          <a:prstGeom prst="roundRect">
            <a:avLst>
              <a:gd name="adj" fmla="val 45167"/>
            </a:avLst>
          </a:prstGeom>
          <a:noFill/>
          <a:ln w="19050">
            <a:solidFill>
              <a:srgbClr val="E9A82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898850" y="3015555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34301" y="3320355"/>
            <a:ext cx="6307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estimating fill level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3311575" y="4212729"/>
            <a:ext cx="1276350" cy="161925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37673" y="4250829"/>
            <a:ext cx="12241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4648200" y="955179"/>
            <a:ext cx="1295400" cy="3429000"/>
          </a:xfrm>
          <a:prstGeom prst="roundRect">
            <a:avLst>
              <a:gd name="adj" fmla="val 9804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657725" y="964704"/>
            <a:ext cx="1276350" cy="187226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22685" y="1015454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Results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4657725" y="1151930"/>
            <a:ext cx="1276350" cy="306079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80372" y="1228130"/>
            <a:ext cx="266700" cy="698450"/>
          </a:xfrm>
          <a:prstGeom prst="roundRect">
            <a:avLst>
              <a:gd name="adj" fmla="val 14286"/>
            </a:avLst>
          </a:prstGeom>
          <a:noFill/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899422" y="1458516"/>
            <a:ext cx="228600" cy="449014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899422" y="1439466"/>
            <a:ext cx="228600" cy="1905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210473" y="1401068"/>
            <a:ext cx="5108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210473" y="1667768"/>
            <a:ext cx="51082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4733925" y="1964680"/>
            <a:ext cx="1276350" cy="285601"/>
          </a:xfrm>
          <a:prstGeom prst="roundRect">
            <a:avLst>
              <a:gd name="adj" fmla="val 17787"/>
            </a:avLst>
          </a:prstGeom>
          <a:solidFill>
            <a:srgbClr val="EB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810125" y="2015430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Remaining: 340ml · 23 tbsp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810125" y="2113806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Consumed: 160ml · 10 tbsp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4733925" y="2288381"/>
            <a:ext cx="1276350" cy="272951"/>
          </a:xfrm>
          <a:prstGeom prst="roundRect">
            <a:avLst>
              <a:gd name="adj" fmla="val 18611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810125" y="2339132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1,325 cal consumed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810125" y="2424857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149.8g fat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4722685" y="2599432"/>
            <a:ext cx="114642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this accurate?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4733925" y="2723257"/>
            <a:ext cx="549325" cy="117277"/>
          </a:xfrm>
          <a:prstGeom prst="roundRect">
            <a:avLst>
              <a:gd name="adj" fmla="val 32487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54239" y="2748558"/>
            <a:ext cx="5086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right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5308550" y="2723257"/>
            <a:ext cx="549325" cy="117277"/>
          </a:xfrm>
          <a:prstGeom prst="roundRect">
            <a:avLst>
              <a:gd name="adj" fmla="val 32487"/>
            </a:avLst>
          </a:prstGeom>
          <a:solidFill>
            <a:srgbClr val="E8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328864" y="2748558"/>
            <a:ext cx="50869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high</a:t>
            </a:r>
            <a:endParaRPr lang="en-US" sz="500" dirty="0"/>
          </a:p>
        </p:txBody>
      </p:sp>
      <p:sp>
        <p:nvSpPr>
          <p:cNvPr id="69" name="Text 67"/>
          <p:cNvSpPr/>
          <p:nvPr/>
        </p:nvSpPr>
        <p:spPr>
          <a:xfrm>
            <a:off x="4657725" y="4212729"/>
            <a:ext cx="1276350" cy="161925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683824" y="4250829"/>
            <a:ext cx="122415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Screen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609600" y="4460379"/>
            <a:ext cx="5334000" cy="171450"/>
          </a:xfrm>
          <a:prstGeom prst="roundRect">
            <a:avLst>
              <a:gd name="adj" fmla="val 29630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85749" y="4498479"/>
            <a:ext cx="518170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 Screens — HTML Mockup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197501" y="688777"/>
            <a:ext cx="27204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197501" y="971252"/>
            <a:ext cx="298400" cy="196751"/>
          </a:xfrm>
          <a:prstGeom prst="roundRect">
            <a:avLst>
              <a:gd name="adj" fmla="val 19365"/>
            </a:avLst>
          </a:prstGeom>
          <a:solidFill>
            <a:srgbClr val="2D6A4F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194517" y="1180654"/>
            <a:ext cx="3043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#2D6A4F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6559302" y="971252"/>
            <a:ext cx="298400" cy="196751"/>
          </a:xfrm>
          <a:prstGeom prst="roundRect">
            <a:avLst>
              <a:gd name="adj" fmla="val 19365"/>
            </a:avLst>
          </a:prstGeom>
          <a:solidFill>
            <a:srgbClr val="40916C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6556318" y="1180654"/>
            <a:ext cx="3043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#40916C</a:t>
            </a:r>
            <a:endParaRPr lang="en-US" sz="550" dirty="0"/>
          </a:p>
        </p:txBody>
      </p:sp>
      <p:sp>
        <p:nvSpPr>
          <p:cNvPr id="78" name="Text 76"/>
          <p:cNvSpPr/>
          <p:nvPr/>
        </p:nvSpPr>
        <p:spPr>
          <a:xfrm>
            <a:off x="6921103" y="971252"/>
            <a:ext cx="298400" cy="196751"/>
          </a:xfrm>
          <a:prstGeom prst="roundRect">
            <a:avLst>
              <a:gd name="adj" fmla="val 19365"/>
            </a:avLst>
          </a:prstGeom>
          <a:solidFill>
            <a:srgbClr val="E9A820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6918119" y="1180654"/>
            <a:ext cx="3043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#E9A820</a:t>
            </a:r>
            <a:endParaRPr lang="en-US" sz="550" dirty="0"/>
          </a:p>
        </p:txBody>
      </p:sp>
      <p:sp>
        <p:nvSpPr>
          <p:cNvPr id="80" name="Text 78"/>
          <p:cNvSpPr/>
          <p:nvPr/>
        </p:nvSpPr>
        <p:spPr>
          <a:xfrm>
            <a:off x="7282904" y="971252"/>
            <a:ext cx="298400" cy="196751"/>
          </a:xfrm>
          <a:prstGeom prst="roundRect">
            <a:avLst>
              <a:gd name="adj" fmla="val 19365"/>
            </a:avLst>
          </a:prstGeom>
          <a:solidFill>
            <a:srgbClr val="D64045"/>
          </a:solidFill>
          <a:ln w="9525">
            <a:solidFill>
              <a:srgbClr val="00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279920" y="1180654"/>
            <a:ext cx="3043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#D64045</a:t>
            </a:r>
            <a:endParaRPr lang="en-US" sz="550" dirty="0"/>
          </a:p>
        </p:txBody>
      </p:sp>
      <p:sp>
        <p:nvSpPr>
          <p:cNvPr id="82" name="Text 80"/>
          <p:cNvSpPr/>
          <p:nvPr/>
        </p:nvSpPr>
        <p:spPr>
          <a:xfrm>
            <a:off x="7644705" y="971252"/>
            <a:ext cx="298400" cy="196751"/>
          </a:xfrm>
          <a:prstGeom prst="roundRect">
            <a:avLst>
              <a:gd name="adj" fmla="val 19365"/>
            </a:avLst>
          </a:prstGeom>
          <a:solidFill>
            <a:srgbClr val="F5F8F5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641721" y="1180654"/>
            <a:ext cx="3043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spcAft>
                <a:spcPts val="550"/>
              </a:spcAft>
              <a:buNone/>
            </a:pPr>
            <a:r>
              <a:rPr lang="en-US" sz="5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550" dirty="0"/>
          </a:p>
        </p:txBody>
      </p:sp>
      <p:sp>
        <p:nvSpPr>
          <p:cNvPr id="84" name="Text 82"/>
          <p:cNvSpPr/>
          <p:nvPr/>
        </p:nvSpPr>
        <p:spPr>
          <a:xfrm>
            <a:off x="6197501" y="155183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6438751" y="1526530"/>
            <a:ext cx="24744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screens designed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438751" y="1672530"/>
            <a:ext cx="24744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· Camera · Preview · Analyzing · Results · Feedback · Errors · iOS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197501" y="1996232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6438751" y="1970931"/>
            <a:ext cx="13282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(375–430px)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438751" y="2116931"/>
            <a:ext cx="13282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WCAG 2.1 AA accessible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197501" y="2335857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6438751" y="2310557"/>
            <a:ext cx="12745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fill gauge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438751" y="2456557"/>
            <a:ext cx="127455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bottle fill visualization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197501" y="2675483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6438751" y="2650182"/>
            <a:ext cx="1474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overlay guide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6438751" y="2796183"/>
            <a:ext cx="14741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corner markers for alignment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6197501" y="3015109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6438751" y="2989808"/>
            <a:ext cx="1622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flow · no navigation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438751" y="3135809"/>
            <a:ext cx="16227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cognitive load — just scan + see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831646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Continuous Improvement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942975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D:/AI/Self/Safi-Image-Analysis/_bmad-output/planning-artifacts/pptx-workspace/slides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250" y="1133475"/>
            <a:ext cx="6603950" cy="2476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3800475"/>
            <a:ext cx="8153400" cy="707975"/>
          </a:xfrm>
          <a:prstGeom prst="roundRect">
            <a:avLst>
              <a:gd name="adj" fmla="val 14351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87045" y="3952875"/>
            <a:ext cx="7798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the data collection engine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7045" y="4213175"/>
            <a:ext cx="77985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generates a labeled training example automatically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79350"/>
            <a:ext cx="84461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Privacy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3400" y="641300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806351"/>
            <a:ext cx="4741366" cy="444252"/>
          </a:xfrm>
          <a:prstGeom prst="roundRect">
            <a:avLst>
              <a:gd name="adj" fmla="val 20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907852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5452" y="96812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1202" y="895201"/>
            <a:ext cx="3669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Validation — CORS Whitelist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41202" y="1041202"/>
            <a:ext cx="366957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safi-oil-tracker.pages.dev + localhost allowed · All other origins rejected with 403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3400" y="1314004"/>
            <a:ext cx="4741366" cy="444252"/>
          </a:xfrm>
          <a:prstGeom prst="roundRect">
            <a:avLst>
              <a:gd name="adj" fmla="val 20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0350" y="1415504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5452" y="1475780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41202" y="1402854"/>
            <a:ext cx="40988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— 10 req/min per IP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41202" y="1548854"/>
            <a:ext cx="4098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in Cloudflare KV · Prevents abuse &amp; AI API cost spikes · Returns 429 on breach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3400" y="1821656"/>
            <a:ext cx="4741366" cy="533251"/>
          </a:xfrm>
          <a:prstGeom prst="roundRect">
            <a:avLst>
              <a:gd name="adj" fmla="val 166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0350" y="1923157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5452" y="198343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1202" y="1910507"/>
            <a:ext cx="4188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Protection — Worker Secrets Only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41202" y="2056507"/>
            <a:ext cx="4188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&amp; Groq keys stored as Cloudflare Worker env secrets · Never in client bundle or git history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3400" y="2418308"/>
            <a:ext cx="4741366" cy="533251"/>
          </a:xfrm>
          <a:prstGeom prst="roundRect">
            <a:avLst>
              <a:gd name="adj" fmla="val 166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0350" y="2519809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5452" y="258008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41202" y="2507159"/>
            <a:ext cx="4188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Guard — Reject &gt; 4MB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41202" y="2653159"/>
            <a:ext cx="4188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Content-Length checked before processing · Prevents memory exhaustion &amp; oversized AI payloads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3400" y="3014960"/>
            <a:ext cx="4741366" cy="533251"/>
          </a:xfrm>
          <a:prstGeom prst="roundRect">
            <a:avLst>
              <a:gd name="adj" fmla="val 166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52450" y="3014960"/>
            <a:ext cx="0" cy="533251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8450" y="3116461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93552" y="317673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9302" y="3103811"/>
            <a:ext cx="41498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PII — No Accounts, No Identity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79302" y="3249811"/>
            <a:ext cx="41498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names, emails, or phone numbers collected · R2 bucket is private (not web-accessible) · GDPR-safe by design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33400" y="3611612"/>
            <a:ext cx="4741366" cy="444252"/>
          </a:xfrm>
          <a:prstGeom prst="roundRect">
            <a:avLst>
              <a:gd name="adj" fmla="val 20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0350" y="3713113"/>
            <a:ext cx="253901" cy="253901"/>
          </a:xfrm>
          <a:prstGeom prst="roundRect">
            <a:avLst>
              <a:gd name="adj" fmla="val 50019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55452" y="377338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41202" y="3700463"/>
            <a:ext cx="38500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Everywhere — Cloudflare Enforced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41202" y="3846463"/>
            <a:ext cx="38500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 · HTTP→HTTPS redirect enforced at CDN edge · HSTS header on all responses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27166" y="806351"/>
            <a:ext cx="3386733" cy="930027"/>
          </a:xfrm>
          <a:prstGeom prst="roundRect">
            <a:avLst>
              <a:gd name="adj" fmla="val 9559"/>
            </a:avLst>
          </a:prstGeom>
          <a:solidFill>
            <a:srgbClr val="EB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446216" y="806351"/>
            <a:ext cx="0" cy="930027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92217" y="907852"/>
            <a:ext cx="3156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Data Is Stored (R2)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92217" y="1072902"/>
            <a:ext cx="3094732" cy="5619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744617" y="1120527"/>
            <a:ext cx="30011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images/{scanId}.jpg — bottle photo only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44617" y="1272927"/>
            <a:ext cx="30011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metadata/{scanId}.json — fill %, confidence, timestamp, device type, feedback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44617" y="1530102"/>
            <a:ext cx="30011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user ID. No location. No personal data.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427166" y="1825228"/>
            <a:ext cx="3386733" cy="977652"/>
          </a:xfrm>
          <a:prstGeom prst="roundRect">
            <a:avLst>
              <a:gd name="adj" fmla="val 9093"/>
            </a:avLst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446216" y="1825228"/>
            <a:ext cx="0" cy="977652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2217" y="1926729"/>
            <a:ext cx="315662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Validation (Layer 1 Sanity)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92217" y="2091779"/>
            <a:ext cx="3094732" cy="609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744617" y="2139404"/>
            <a:ext cx="30011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too_fast: response &lt; 3s (random tap)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44617" y="2291804"/>
            <a:ext cx="30011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boundary_value: estimate = 0% or 100%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744617" y="2444204"/>
            <a:ext cx="30011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contradictory: "too low" but estimate &lt; AI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744617" y="2596604"/>
            <a:ext cx="30011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extreme_delta: &gt; 30% difference from AI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27166" y="2891730"/>
            <a:ext cx="3386733" cy="799802"/>
          </a:xfrm>
          <a:prstGeom prst="roundRect">
            <a:avLst>
              <a:gd name="adj" fmla="val 11115"/>
            </a:avLst>
          </a:prstGeom>
          <a:solidFill>
            <a:srgbClr val="EBF5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554117" y="2993231"/>
            <a:ext cx="31954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Post-POC Additions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554117" y="3132832"/>
            <a:ext cx="3132832" cy="4572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706517" y="3180457"/>
            <a:ext cx="30400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auth: JWT tokens, secure session management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706517" y="3332857"/>
            <a:ext cx="30400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dashboard: role-based access (Phase 3)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706517" y="3485257"/>
            <a:ext cx="30400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bucket encryption at rest (enabled by default)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28600"/>
            <a:ext cx="844610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33400" y="625376"/>
            <a:ext cx="4076700" cy="4071193"/>
          </a:xfrm>
          <a:prstGeom prst="roundRect">
            <a:avLst>
              <a:gd name="adj" fmla="val 2184"/>
            </a:avLst>
          </a:prstGeom>
          <a:solidFill>
            <a:srgbClr val="F0F7F4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644426"/>
            <a:ext cx="4038600" cy="346025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5595" y="682526"/>
            <a:ext cx="3912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TARGETS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5595" y="809476"/>
            <a:ext cx="39123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v1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5851" y="1028551"/>
            <a:ext cx="3911798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4901" y="1028551"/>
            <a:ext cx="0" cy="580727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7193" y="1218902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8s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8703" y="1212503"/>
            <a:ext cx="32390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Scan-to-Result Time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88703" y="1329928"/>
            <a:ext cx="32390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capture to full nutrition results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15851" y="1634579"/>
            <a:ext cx="3911798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4901" y="1634579"/>
            <a:ext cx="0" cy="580727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193" y="1824930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8703" y="1818531"/>
            <a:ext cx="32390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Scans (Month 1)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288703" y="1935956"/>
            <a:ext cx="32390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usable training data (image + feedback)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615851" y="2240607"/>
            <a:ext cx="3911798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4901" y="2240607"/>
            <a:ext cx="0" cy="580727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193" y="2430959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15%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8703" y="2424559"/>
            <a:ext cx="32390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Fill-Level MAE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288703" y="2541984"/>
            <a:ext cx="32390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absolute error vs. user ground truth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15851" y="2846636"/>
            <a:ext cx="3911798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34901" y="2846636"/>
            <a:ext cx="0" cy="580727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193" y="3036987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8703" y="3030587"/>
            <a:ext cx="32390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Submission Rate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288703" y="3148013"/>
            <a:ext cx="32390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who provide accuracy feedback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15851" y="3452664"/>
            <a:ext cx="3911798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34901" y="3452664"/>
            <a:ext cx="0" cy="580727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7193" y="3643015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8703" y="3636615"/>
            <a:ext cx="32390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288703" y="3754041"/>
            <a:ext cx="32390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services on free tiers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615851" y="4058692"/>
            <a:ext cx="3911798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34901" y="4058692"/>
            <a:ext cx="0" cy="580727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193" y="4249043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34/CI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88703" y="4242643"/>
            <a:ext cx="32390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+ CI/CD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288703" y="4360069"/>
            <a:ext cx="32390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passing · Clean auto-deploy on every push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737050" y="625376"/>
            <a:ext cx="4076849" cy="4071193"/>
          </a:xfrm>
          <a:prstGeom prst="roundRect">
            <a:avLst>
              <a:gd name="adj" fmla="val 2184"/>
            </a:avLst>
          </a:prstGeom>
          <a:solidFill>
            <a:srgbClr val="F3F7FF"/>
          </a:solidFill>
          <a:ln w="19050">
            <a:solidFill>
              <a:srgbClr val="3A5A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56100" y="644426"/>
            <a:ext cx="4038749" cy="346025"/>
          </a:xfrm>
          <a:prstGeom prst="rect">
            <a:avLst/>
          </a:prstGeom>
          <a:solidFill>
            <a:srgbClr val="3A5A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19244" y="682526"/>
            <a:ext cx="39124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A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TARGETS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19244" y="809476"/>
            <a:ext cx="39124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Launch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19501" y="1028551"/>
            <a:ext cx="3911947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838551" y="1028551"/>
            <a:ext cx="0" cy="580727"/>
          </a:xfrm>
          <a:prstGeom prst="line">
            <a:avLst/>
          </a:prstGeom>
          <a:noFill/>
          <a:ln w="38100">
            <a:solidFill>
              <a:srgbClr val="3A5A8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843" y="1218902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3A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492353" y="1212503"/>
            <a:ext cx="323920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Scan-to-Result Time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492353" y="1329928"/>
            <a:ext cx="32392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with optimized prompts + fine-tuned model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819501" y="1634579"/>
            <a:ext cx="3911947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838551" y="1634579"/>
            <a:ext cx="0" cy="580727"/>
          </a:xfrm>
          <a:prstGeom prst="line">
            <a:avLst/>
          </a:prstGeom>
          <a:noFill/>
          <a:ln w="38100">
            <a:solidFill>
              <a:srgbClr val="3A5A8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843" y="1824930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3A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492353" y="1818531"/>
            <a:ext cx="323920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Active Scans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92353" y="1935956"/>
            <a:ext cx="32392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user accounts tracking repeat usage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819501" y="2240607"/>
            <a:ext cx="3911947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4838551" y="2240607"/>
            <a:ext cx="0" cy="580727"/>
          </a:xfrm>
          <a:prstGeom prst="line">
            <a:avLst/>
          </a:prstGeom>
          <a:noFill/>
          <a:ln w="38100">
            <a:solidFill>
              <a:srgbClr val="3A5A8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0843" y="2430959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3A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8%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92353" y="2424559"/>
            <a:ext cx="323920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Fill-Level MAE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492353" y="2541984"/>
            <a:ext cx="32392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fine-tuning on 1,000+ labeled images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819501" y="2846636"/>
            <a:ext cx="3911947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4838551" y="2846636"/>
            <a:ext cx="0" cy="580727"/>
          </a:xfrm>
          <a:prstGeom prst="line">
            <a:avLst/>
          </a:prstGeom>
          <a:noFill/>
          <a:ln w="38100">
            <a:solidFill>
              <a:srgbClr val="3A5A8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10843" y="3036987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3A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80%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492353" y="3030587"/>
            <a:ext cx="323920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Completion Rate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492353" y="3148013"/>
            <a:ext cx="32392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Initiated scans reaching result screen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819501" y="3452664"/>
            <a:ext cx="3911947" cy="580727"/>
          </a:xfrm>
          <a:prstGeom prst="roundRect">
            <a:avLst>
              <a:gd name="adj" fmla="val 109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" dist="9525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4838551" y="3452664"/>
            <a:ext cx="0" cy="580727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10843" y="3643015"/>
            <a:ext cx="5181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$3–30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492353" y="3636615"/>
            <a:ext cx="323920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 (10K–100K scans)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492353" y="3754041"/>
            <a:ext cx="32392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6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Flash tokens + R2 · 50+ bottle SKUs (Phase 4)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53901"/>
            <a:ext cx="84461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3400" y="615851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755452"/>
            <a:ext cx="1625501" cy="423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2D6A4F"/>
            </a:solidFill>
          </a:ln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2450" y="774502"/>
            <a:ext cx="1587401" cy="403175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107" y="850702"/>
            <a:ext cx="1412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40107" y="958602"/>
            <a:ext cx="1412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POC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2450" y="1177677"/>
            <a:ext cx="1587401" cy="17145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0107" y="1215777"/>
            <a:ext cx="1412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weeks · 1 developer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653951" y="1425327"/>
            <a:ext cx="1384399" cy="10668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6351" y="1472952"/>
            <a:ext cx="12566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→ Scan → Result flow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06351" y="1625352"/>
            <a:ext cx="12566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bottle SKUs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06351" y="1777752"/>
            <a:ext cx="12566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(Gemini Flash)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06351" y="1930152"/>
            <a:ext cx="12566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feedback loop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06351" y="2082552"/>
            <a:ext cx="12566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pipeline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06351" y="2234952"/>
            <a:ext cx="12566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auto-deploy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806351" y="2387352"/>
            <a:ext cx="12566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$0/mo cost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35101" y="755452"/>
            <a:ext cx="1587550" cy="423564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235101" y="774502"/>
            <a:ext cx="1587550" cy="0"/>
          </a:xfrm>
          <a:prstGeom prst="line">
            <a:avLst/>
          </a:prstGeom>
          <a:noFill/>
          <a:ln w="381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35101" y="793552"/>
            <a:ext cx="1587550" cy="403175"/>
          </a:xfrm>
          <a:prstGeom prst="rect">
            <a:avLst/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22756" y="869752"/>
            <a:ext cx="1412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POST-POC VALIDATION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322756" y="977652"/>
            <a:ext cx="1412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35101" y="1196727"/>
            <a:ext cx="1587550" cy="17145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322756" y="1234827"/>
            <a:ext cx="1412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09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50+ real scans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336602" y="1444377"/>
            <a:ext cx="1384548" cy="914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89002" y="14920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Cloudflare R2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489002" y="16444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 (D1 + KV)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489002" y="17968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history per user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89002" y="19492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starting level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489002" y="21016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489002" y="22540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bottle SKUs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898850" y="755452"/>
            <a:ext cx="1587550" cy="423564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898850" y="774502"/>
            <a:ext cx="1587550" cy="0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98850" y="793552"/>
            <a:ext cx="1587550" cy="403175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986506" y="869752"/>
            <a:ext cx="1412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LABELED SCANS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986506" y="977652"/>
            <a:ext cx="1412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98850" y="1196727"/>
            <a:ext cx="1587550" cy="171450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986506" y="1234827"/>
            <a:ext cx="1412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Intelligence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000351" y="1444377"/>
            <a:ext cx="1384548" cy="7620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152751" y="14920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refinement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152751" y="16444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152751" y="17968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Qwen2.5-VL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152751" y="19492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152751" y="21016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accuracy testing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62600" y="755452"/>
            <a:ext cx="1587550" cy="423564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562600" y="774502"/>
            <a:ext cx="1587550" cy="0"/>
          </a:xfrm>
          <a:prstGeom prst="line">
            <a:avLst/>
          </a:prstGeom>
          <a:noFill/>
          <a:ln w="38100">
            <a:solidFill>
              <a:srgbClr val="6B8CB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62600" y="793552"/>
            <a:ext cx="1587550" cy="403175"/>
          </a:xfrm>
          <a:prstGeom prst="rect">
            <a:avLst/>
          </a:prstGeom>
          <a:solidFill>
            <a:srgbClr val="3A5A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650255" y="869752"/>
            <a:ext cx="1412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SCANS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650255" y="977652"/>
            <a:ext cx="1412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62600" y="1196727"/>
            <a:ext cx="1587550" cy="171450"/>
          </a:xfrm>
          <a:prstGeom prst="rect">
            <a:avLst/>
          </a:prstGeom>
          <a:solidFill>
            <a:srgbClr val="E8EA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650255" y="1234827"/>
            <a:ext cx="1412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A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Scale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5664101" y="1444377"/>
            <a:ext cx="1384548" cy="609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16501" y="14920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mobile app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816501" y="16444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Barcode scanning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816501" y="17968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Multi-brand registry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816501" y="19492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226350" y="755452"/>
            <a:ext cx="1587550" cy="4235648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7226350" y="774502"/>
            <a:ext cx="1587550" cy="0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226350" y="793552"/>
            <a:ext cx="1587550" cy="403175"/>
          </a:xfrm>
          <a:prstGeom prst="rect">
            <a:avLst/>
          </a:prstGeom>
          <a:solidFill>
            <a:srgbClr val="7B6B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314005" y="869752"/>
            <a:ext cx="1412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SCANS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314005" y="977652"/>
            <a:ext cx="14122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26350" y="1196727"/>
            <a:ext cx="1587550" cy="171450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314005" y="1234827"/>
            <a:ext cx="1412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B6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27850" y="1444377"/>
            <a:ext cx="1384548" cy="6096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480250" y="14920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480250" y="16444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patterns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480250" y="17968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Size-based insights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480250" y="1949202"/>
            <a:ext cx="12567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4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180" y="253901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Cost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54550" y="587276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726877"/>
            <a:ext cx="2793802" cy="4264223"/>
          </a:xfrm>
          <a:prstGeom prst="roundRect">
            <a:avLst>
              <a:gd name="adj" fmla="val 3637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745927"/>
            <a:ext cx="2793802" cy="0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7950" y="891927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v1 (Current)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050578"/>
            <a:ext cx="259069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/ mo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7950" y="1517303"/>
            <a:ext cx="25906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7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· Up to ~15K scans/mo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507950" y="1899791"/>
            <a:ext cx="253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950" y="1752154"/>
            <a:ext cx="74536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Pages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793802" y="1752154"/>
            <a:ext cx="2591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7950" y="2090291"/>
            <a:ext cx="253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950" y="1942654"/>
            <a:ext cx="78118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93802" y="1942654"/>
            <a:ext cx="2591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7950" y="2280791"/>
            <a:ext cx="253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2133154"/>
            <a:ext cx="7344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93802" y="2133154"/>
            <a:ext cx="2591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07950" y="2471291"/>
            <a:ext cx="253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950" y="2323654"/>
            <a:ext cx="6047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Fallback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93802" y="2323654"/>
            <a:ext cx="2591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7950" y="2661791"/>
            <a:ext cx="253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2514154"/>
            <a:ext cx="6427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93802" y="2514154"/>
            <a:ext cx="2591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7950" y="2842766"/>
            <a:ext cx="25399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2704654"/>
            <a:ext cx="4586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Storage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11896" y="2704654"/>
            <a:ext cx="7506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(CC req.)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01752" y="726877"/>
            <a:ext cx="55704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Launch Estimate (10K–100K scans/mo)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01752" y="936427"/>
            <a:ext cx="5461248" cy="577751"/>
          </a:xfrm>
          <a:prstGeom prst="roundRect">
            <a:avLst>
              <a:gd name="adj" fmla="val 13189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01752" y="936427"/>
            <a:ext cx="5461248" cy="196751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403253" y="987177"/>
            <a:ext cx="13407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17703" y="987177"/>
            <a:ext cx="1340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1M tkns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032302" y="987177"/>
            <a:ext cx="1340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1M tkns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346900" y="987177"/>
            <a:ext cx="1340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301752" y="1318915"/>
            <a:ext cx="54612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03253" y="1171277"/>
            <a:ext cx="13407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17703" y="1171277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032302" y="1171277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46900" y="1171277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req/day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01752" y="1509415"/>
            <a:ext cx="54612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3253" y="1361777"/>
            <a:ext cx="13407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17703" y="1361777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032302" y="1361777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$10.00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346900" y="1361777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req/day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01752" y="1590377"/>
            <a:ext cx="557047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~1,550 tokens/scan (1,500 input + 50 output) · Using Gemini 2.5 Flash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301752" y="1787128"/>
            <a:ext cx="5461248" cy="196751"/>
          </a:xfrm>
          <a:prstGeom prst="rect">
            <a:avLst/>
          </a:prstGeom>
          <a:solidFill>
            <a:srgbClr val="E9A820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403253" y="1837879"/>
            <a:ext cx="13407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717703" y="1837879"/>
            <a:ext cx="1340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Tokens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032302" y="1837879"/>
            <a:ext cx="1340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Storage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346900" y="1837879"/>
            <a:ext cx="134089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/ mo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301752" y="1983879"/>
            <a:ext cx="5461248" cy="190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301752" y="2169616"/>
            <a:ext cx="54612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3253" y="2021979"/>
            <a:ext cx="13407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scans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17703" y="20219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032302" y="20219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(700MB)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346900" y="20219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 / mo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301752" y="2174379"/>
            <a:ext cx="5461248" cy="1905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3301752" y="2360116"/>
            <a:ext cx="54612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03253" y="2212479"/>
            <a:ext cx="13407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scans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717703" y="22124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$12.75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032302" y="22124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(3.5GB)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46900" y="22124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~$13 / mo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3301752" y="2364879"/>
            <a:ext cx="5461248" cy="1905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3301752" y="2550616"/>
            <a:ext cx="546124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03253" y="2402979"/>
            <a:ext cx="13407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scans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717703" y="24029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$25.50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032302" y="24029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~$3.50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346900" y="2402979"/>
            <a:ext cx="134089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~$30 / mo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301752" y="2631579"/>
            <a:ext cx="5461248" cy="463153"/>
          </a:xfrm>
          <a:prstGeom prst="roundRect">
            <a:avLst>
              <a:gd name="adj" fmla="val 13710"/>
            </a:avLst>
          </a:prstGeom>
          <a:solidFill>
            <a:srgbClr val="E9A820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3320802" y="2631579"/>
            <a:ext cx="0" cy="463153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41353" y="2694980"/>
            <a:ext cx="5324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(per scan · Gemini Flash)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441353" y="2815530"/>
            <a:ext cx="5324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1,500 tkns × $0.15/M = $0.000225 · Output: 50 tkns × $0.60/M = $0.000030 · Total: $0.000255/scan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3441353" y="2936081"/>
            <a:ext cx="5324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 = $2.55 · 50K = $12.75 · 100K = $25.50 (AI only)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3301752" y="3170932"/>
            <a:ext cx="5461248" cy="292001"/>
          </a:xfrm>
          <a:prstGeom prst="roundRect">
            <a:avLst>
              <a:gd name="adj" fmla="val 21747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3403253" y="3221682"/>
            <a:ext cx="53634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using Gemini Pro:</a:t>
            </a:r>
            <a:pPr algn="l" indent="0" marL="0">
              <a:buNone/>
            </a:pPr>
            <a:r>
              <a:rPr lang="en-US" sz="65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 $1.25/M + Output $10.00/M → $0.002375/scan → 10K scans = $23.75 · 100K = $237.50 (not recommended for this use case)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200"/>
            <a:ext cx="831646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942975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58776"/>
            <a:ext cx="44304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competitor exists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600" y="1438126"/>
            <a:ext cx="4343549" cy="564952"/>
          </a:xfrm>
          <a:prstGeom prst="roundRect">
            <a:avLst>
              <a:gd name="adj" fmla="val 179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1657052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64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66651" y="1565077"/>
            <a:ext cx="14388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MyFitnessPal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6651" y="1742777"/>
            <a:ext cx="14388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friction manual logging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2130028"/>
            <a:ext cx="4343549" cy="564952"/>
          </a:xfrm>
          <a:prstGeom prst="roundRect">
            <a:avLst>
              <a:gd name="adj" fmla="val 179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7301" y="234895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64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66651" y="2256979"/>
            <a:ext cx="14970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Smart Scales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6651" y="2434679"/>
            <a:ext cx="1497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hardware purchase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9600" y="2821930"/>
            <a:ext cx="4343549" cy="564952"/>
          </a:xfrm>
          <a:prstGeom prst="roundRect">
            <a:avLst>
              <a:gd name="adj" fmla="val 179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7301" y="304085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640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66651" y="2948880"/>
            <a:ext cx="1646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Receipt Scanning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6651" y="3126581"/>
            <a:ext cx="1646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labels, not actual content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9600" y="3513832"/>
            <a:ext cx="4343549" cy="720477"/>
          </a:xfrm>
          <a:prstGeom prst="roundRect">
            <a:avLst>
              <a:gd name="adj" fmla="val 14102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7301" y="3691533"/>
            <a:ext cx="4067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Safi Oil Tracker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7301" y="3913733"/>
            <a:ext cx="4067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friction + Zero hardware + Self-improving AI</a:t>
            </a:r>
            <a:endParaRPr lang="en-US" sz="1000" dirty="0"/>
          </a:p>
        </p:txBody>
      </p:sp>
      <p:pic>
        <p:nvPicPr>
          <p:cNvPr id="21" name="Image 0" descr="D:/AI/Self/Safi-Image-Analysis/_bmad-output/planning-artifacts/pptx-workspace/slides/competi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0" y="1639937"/>
            <a:ext cx="3301901" cy="27685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81000"/>
            <a:ext cx="823874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Status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866775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108025"/>
            <a:ext cx="8077200" cy="726877"/>
          </a:xfrm>
          <a:prstGeom prst="roundRect">
            <a:avLst>
              <a:gd name="adj" fmla="val 17472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D:/AI/Self/Safi-Image-Analysis/_bmad-output/planning-artifacts/pptx-workspace/slide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196" y="124286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1097" y="1234976"/>
            <a:ext cx="38852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IMPLEMENTATION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061097" y="1555552"/>
            <a:ext cx="38852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1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planning artifacts complete and verified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9600" y="1961852"/>
            <a:ext cx="2844701" cy="441127"/>
          </a:xfrm>
          <a:prstGeom prst="roundRect">
            <a:avLst>
              <a:gd name="adj" fmla="val 17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62000" y="2063353"/>
            <a:ext cx="1358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5201" y="2110978"/>
            <a:ext cx="1396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 (39 FRs, 30 NFRs)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530501" y="1961852"/>
            <a:ext cx="2844701" cy="441127"/>
          </a:xfrm>
          <a:prstGeom prst="roundRect">
            <a:avLst>
              <a:gd name="adj" fmla="val 17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682901" y="2063353"/>
            <a:ext cx="1358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816102" y="2110978"/>
            <a:ext cx="14684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(14 sections)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9600" y="2479179"/>
            <a:ext cx="2844701" cy="441127"/>
          </a:xfrm>
          <a:prstGeom prst="roundRect">
            <a:avLst>
              <a:gd name="adj" fmla="val 17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62000" y="2580680"/>
            <a:ext cx="1358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95201" y="2628305"/>
            <a:ext cx="13027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Design (9 screens)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530501" y="2479179"/>
            <a:ext cx="2844701" cy="441127"/>
          </a:xfrm>
          <a:prstGeom prst="roundRect">
            <a:avLst>
              <a:gd name="adj" fmla="val 17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682901" y="2580680"/>
            <a:ext cx="1358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816102" y="2628305"/>
            <a:ext cx="15619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Epics &amp; Stories (38 stories)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9600" y="2996505"/>
            <a:ext cx="2844701" cy="441127"/>
          </a:xfrm>
          <a:prstGeom prst="roundRect">
            <a:avLst>
              <a:gd name="adj" fmla="val 17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62000" y="3098006"/>
            <a:ext cx="1358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95201" y="3145631"/>
            <a:ext cx="9791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Specification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530501" y="2996505"/>
            <a:ext cx="2844701" cy="441127"/>
          </a:xfrm>
          <a:prstGeom prst="roundRect">
            <a:avLst>
              <a:gd name="adj" fmla="val 17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682901" y="3098006"/>
            <a:ext cx="1358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16102" y="3145631"/>
            <a:ext cx="849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Schemas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9600" y="3513832"/>
            <a:ext cx="2844701" cy="441127"/>
          </a:xfrm>
          <a:prstGeom prst="roundRect">
            <a:avLst>
              <a:gd name="adj" fmla="val 17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62000" y="3615333"/>
            <a:ext cx="1358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95201" y="3662958"/>
            <a:ext cx="14325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Prompt Engineering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530501" y="3513832"/>
            <a:ext cx="2844701" cy="441127"/>
          </a:xfrm>
          <a:prstGeom prst="roundRect">
            <a:avLst>
              <a:gd name="adj" fmla="val 172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682901" y="3615333"/>
            <a:ext cx="1358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816102" y="3662958"/>
            <a:ext cx="10726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Guide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09600" y="4056459"/>
            <a:ext cx="1924050" cy="704552"/>
          </a:xfrm>
          <a:prstGeom prst="roundRect">
            <a:avLst>
              <a:gd name="adj" fmla="val 14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609600" y="4075509"/>
            <a:ext cx="1924050" cy="0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3890" y="4196060"/>
            <a:ext cx="17554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693890" y="4545211"/>
            <a:ext cx="1755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Stories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660600" y="4056459"/>
            <a:ext cx="1924199" cy="704552"/>
          </a:xfrm>
          <a:prstGeom prst="roundRect">
            <a:avLst>
              <a:gd name="adj" fmla="val 14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5"/>
          <p:cNvSpPr/>
          <p:nvPr/>
        </p:nvSpPr>
        <p:spPr>
          <a:xfrm>
            <a:off x="2660600" y="4075509"/>
            <a:ext cx="1924199" cy="0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4889" y="4196060"/>
            <a:ext cx="17556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2744889" y="4545211"/>
            <a:ext cx="17556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711750" y="4056459"/>
            <a:ext cx="1924050" cy="704552"/>
          </a:xfrm>
          <a:prstGeom prst="roundRect">
            <a:avLst>
              <a:gd name="adj" fmla="val 14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4711750" y="4075509"/>
            <a:ext cx="1924050" cy="0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796040" y="4196060"/>
            <a:ext cx="17554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4796040" y="4545211"/>
            <a:ext cx="1755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762750" y="4056459"/>
            <a:ext cx="1924050" cy="704552"/>
          </a:xfrm>
          <a:prstGeom prst="roundRect">
            <a:avLst>
              <a:gd name="adj" fmla="val 14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6762750" y="4075509"/>
            <a:ext cx="1924050" cy="0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47040" y="4196060"/>
            <a:ext cx="17554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6847040" y="4545211"/>
            <a:ext cx="17554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253901"/>
            <a:ext cx="84461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3400" y="615851"/>
            <a:ext cx="634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730151"/>
            <a:ext cx="8280499" cy="469553"/>
          </a:xfrm>
          <a:prstGeom prst="roundRect">
            <a:avLst>
              <a:gd name="adj" fmla="val 189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52450" y="730151"/>
            <a:ext cx="0" cy="469553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8450" y="806202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4657" y="895052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5502" y="793552"/>
            <a:ext cx="76820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AI with Client-Provided Photos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5502" y="958602"/>
            <a:ext cx="76820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sends bottle images directly (no barcode/QR step needed) — split into training set + held-out test set to measure baseline AI accuracy before any prompt tuning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3400" y="1250454"/>
            <a:ext cx="8280499" cy="520452"/>
          </a:xfrm>
          <a:prstGeom prst="roundRect">
            <a:avLst>
              <a:gd name="adj" fmla="val 17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52450" y="1250454"/>
            <a:ext cx="0" cy="520452"/>
          </a:xfrm>
          <a:prstGeom prst="line">
            <a:avLst/>
          </a:prstGeom>
          <a:noFill/>
          <a:ln w="381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450" y="1326505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2D6A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4657" y="1415355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5502" y="1313855"/>
            <a:ext cx="76820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Prompts Using Feedback Loop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5502" y="1478905"/>
            <a:ext cx="76820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test results + user feedback to iteratively improve Gemini prompts — basic prompt-refinement loop works with sample data even without R2 bucket (no credit card needed)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3400" y="1821656"/>
            <a:ext cx="8280499" cy="469553"/>
          </a:xfrm>
          <a:prstGeom prst="roundRect">
            <a:avLst>
              <a:gd name="adj" fmla="val 189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52450" y="1821656"/>
            <a:ext cx="0" cy="469553"/>
          </a:xfrm>
          <a:prstGeom prst="line">
            <a:avLst/>
          </a:prstGeom>
          <a:noFill/>
          <a:ln w="381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450" y="1897707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4657" y="1986558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502" y="1885057"/>
            <a:ext cx="76820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+ Validate QR Code Scan Flow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55502" y="2050107"/>
            <a:ext cx="76820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Cloudflare Pages + Worker · Print QR codes for 3 SKUs · Verify end-to-end QR → Camera → Result flow (standard functionality, no innovation risk)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3400" y="2341959"/>
            <a:ext cx="8280499" cy="469553"/>
          </a:xfrm>
          <a:prstGeom prst="roundRect">
            <a:avLst>
              <a:gd name="adj" fmla="val 189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52450" y="2341959"/>
            <a:ext cx="0" cy="469553"/>
          </a:xfrm>
          <a:prstGeom prst="line">
            <a:avLst/>
          </a:prstGeom>
          <a:noFill/>
          <a:ln w="38100">
            <a:solidFill>
              <a:srgbClr val="4091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8450" y="2418011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40916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4657" y="2506861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55502" y="2405360"/>
            <a:ext cx="76820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50+ Real-World Scans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5502" y="2570411"/>
            <a:ext cx="76820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live scan collection with feedback submissions — each scan produces a labeled training pair (image + user-corrected fill level) for continuous improvement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33400" y="2862263"/>
            <a:ext cx="8280499" cy="520452"/>
          </a:xfrm>
          <a:prstGeom prst="roundRect">
            <a:avLst>
              <a:gd name="adj" fmla="val 170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52450" y="2862263"/>
            <a:ext cx="0" cy="520452"/>
          </a:xfrm>
          <a:prstGeom prst="line">
            <a:avLst/>
          </a:prstGeom>
          <a:noFill/>
          <a:ln w="38100">
            <a:solidFill>
              <a:srgbClr val="E9A8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450" y="2938314"/>
            <a:ext cx="330101" cy="330101"/>
          </a:xfrm>
          <a:prstGeom prst="roundRect">
            <a:avLst>
              <a:gd name="adj" fmla="val 50015"/>
            </a:avLst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4657" y="3027164"/>
            <a:ext cx="792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55502" y="2925663"/>
            <a:ext cx="76820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Decision: Scale Beyond POC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5502" y="3090714"/>
            <a:ext cx="76820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AI accuracy hits ≤15% MAE and feedback rate ≥30% → greenlight Phase 2: activate R2 persistent storage, add user accounts, scan history, push notifications, more SKUs ($0–5/mo added). If not → iterate prompts or pivot approach before investing further.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4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AI/Self/Safi-Image-Analysis/_bmad-output/planning-artifacts/pptx-workspace/slides/bot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4550" y="755749"/>
            <a:ext cx="634901" cy="1269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97138" y="2152650"/>
            <a:ext cx="2600566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064050" y="2987576"/>
            <a:ext cx="1015901" cy="38100"/>
          </a:xfrm>
          <a:prstGeom prst="rect">
            <a:avLst/>
          </a:prstGeom>
          <a:solidFill>
            <a:srgbClr val="E9A8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77568" y="3279577"/>
            <a:ext cx="14164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8D5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Safi Oil Tracker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67670" y="3644652"/>
            <a:ext cx="2660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1400" dirty="0">
                <a:solidFill>
                  <a:srgbClr val="E9A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SCAN. SNAP. KNOW.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839617" y="4235202"/>
            <a:ext cx="14939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0"/>
              </a:spcBef>
              <a:buNone/>
            </a:pPr>
            <a:r>
              <a:rPr lang="en-US" sz="1100" dirty="0">
                <a:solidFill>
                  <a:srgbClr val="6C9A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| February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Safi Oil Tracker - Client Presentation</dc:title>
  <dc:subject>AI-Powered Cooking Oil Tracking</dc:subject>
  <dc:creator>Ahmed</dc:creator>
  <cp:lastModifiedBy>Ahmed</cp:lastModifiedBy>
  <cp:revision>1</cp:revision>
  <dcterms:created xsi:type="dcterms:W3CDTF">2026-02-28T03:37:20Z</dcterms:created>
  <dcterms:modified xsi:type="dcterms:W3CDTF">2026-02-28T03:37:20Z</dcterms:modified>
</cp:coreProperties>
</file>